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57" r:id="rId5"/>
    <p:sldId id="301" r:id="rId6"/>
    <p:sldId id="302" r:id="rId7"/>
    <p:sldId id="303" r:id="rId8"/>
    <p:sldId id="288" r:id="rId9"/>
    <p:sldId id="289" r:id="rId10"/>
    <p:sldId id="266" r:id="rId11"/>
    <p:sldId id="259" r:id="rId12"/>
    <p:sldId id="279" r:id="rId13"/>
    <p:sldId id="260" r:id="rId14"/>
    <p:sldId id="280" r:id="rId15"/>
    <p:sldId id="28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</a:ln>
          <a:effectLst/>
        </p:spPr>
        <p:txBody>
          <a:bodyPr wrap="square" numCol="1" anchor="t" anchorCtr="0" compatLnSpc="1"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5107B96-A816-446C-A91E-A38A52054936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05EEB0D-0159-442E-924A-131153166082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panose="05020102010507070707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panose="05020102010507070707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panose="05020102010507070707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panose="05020102010507070707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panose="05020102010507070707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panose="05020102010507070707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panose="05020102010507070707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panose="05020102010507070707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panose="05020102010507070707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png"/><Relationship Id="rId3" Type="http://schemas.openxmlformats.org/officeDocument/2006/relationships/tags" Target="../tags/tag8.xml"/><Relationship Id="rId2" Type="http://schemas.openxmlformats.org/officeDocument/2006/relationships/image" Target="../media/image10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Spam Classifier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NLP project to predict weather a mail is spam or not?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is this project trying to solve?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870" y="2635885"/>
            <a:ext cx="2190750" cy="1419225"/>
          </a:xfrm>
          <a:prstGeom prst="rect">
            <a:avLst/>
          </a:prstGeom>
        </p:spPr>
      </p:pic>
      <p:pic>
        <p:nvPicPr>
          <p:cNvPr id="9" name="Content Placeholder 8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26870" y="4687570"/>
            <a:ext cx="2167255" cy="908685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4327525" y="5117465"/>
            <a:ext cx="2111375" cy="17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6972300" y="4958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Not Spam</a:t>
            </a:r>
            <a:endParaRPr lang="en-GB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6972300" y="31616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Spam</a:t>
            </a:r>
            <a:endParaRPr lang="en-GB" altLang="en-US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4338955" y="3335020"/>
            <a:ext cx="2111375" cy="17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did I get the data from?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corpus has been collected from free </a:t>
            </a:r>
            <a:r>
              <a:rPr lang="en-GB" altLang="en-US"/>
              <a:t>or </a:t>
            </a:r>
            <a:r>
              <a:rPr lang="en-US"/>
              <a:t>free for research sources at the Internet</a:t>
            </a:r>
            <a:r>
              <a:rPr lang="en-GB" altLang="en-US"/>
              <a:t>:</a:t>
            </a:r>
            <a:endParaRPr lang="en-GB" altLang="en-US"/>
          </a:p>
          <a:p>
            <a:pPr lvl="1"/>
            <a:r>
              <a:rPr lang="en-GB" altLang="en-US"/>
              <a:t>UK forum</a:t>
            </a:r>
            <a:endParaRPr lang="en-GB" altLang="en-US"/>
          </a:p>
          <a:p>
            <a:pPr lvl="1"/>
            <a:r>
              <a:rPr lang="en-GB" altLang="en-US"/>
              <a:t>NUS SMS Corpus (Research dept. of singapore)</a:t>
            </a:r>
            <a:endParaRPr lang="en-GB" altLang="en-US"/>
          </a:p>
          <a:p>
            <a:pPr lvl="1"/>
            <a:r>
              <a:rPr lang="en-GB" altLang="en-US"/>
              <a:t>Caroline Tag's PhD Thesis</a:t>
            </a:r>
            <a:endParaRPr lang="en-GB" altLang="en-US"/>
          </a:p>
          <a:p>
            <a:pPr lvl="1"/>
            <a:r>
              <a:rPr lang="en-GB" altLang="en-US"/>
              <a:t>source available for academic researches</a:t>
            </a:r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1050" y="528955"/>
            <a:ext cx="7480300" cy="567309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0" y="619125"/>
            <a:ext cx="7412355" cy="56210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1040" y="628015"/>
            <a:ext cx="7433945" cy="55372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Relationship between input features</a:t>
            </a:r>
            <a:endParaRPr lang="en-GB" altLang="en-US"/>
          </a:p>
        </p:txBody>
      </p:sp>
      <p:pic>
        <p:nvPicPr>
          <p:cNvPr id="5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3255" y="2332990"/>
            <a:ext cx="4528820" cy="416433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>
                <a:sym typeface="+mn-ea"/>
              </a:rPr>
              <a:t>Correlation between input features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0260" y="2536825"/>
            <a:ext cx="5332095" cy="3636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9" y="447188"/>
            <a:ext cx="11806406" cy="970450"/>
          </a:xfrm>
        </p:spPr>
        <p:txBody>
          <a:bodyPr/>
          <a:lstStyle/>
          <a:p>
            <a:r>
              <a:rPr lang="en-GB" altLang="en-US" dirty="0"/>
              <a:t>What words do messages contain?</a:t>
            </a:r>
            <a:endParaRPr lang="en-GB" altLang="en-US" dirty="0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0260" y="2352040"/>
            <a:ext cx="10118090" cy="4062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25 most common keyword in messages</a:t>
            </a:r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8515" y="2576830"/>
            <a:ext cx="5186045" cy="3557905"/>
          </a:xfrm>
          <a:prstGeom prst="rect">
            <a:avLst/>
          </a:prstGeom>
          <a:effectLst/>
        </p:spPr>
      </p:pic>
      <p:pic>
        <p:nvPicPr>
          <p:cNvPr id="5" name="Content Placeholder 4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02045" y="2576830"/>
            <a:ext cx="5179695" cy="36385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389620" y="2013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Ham</a:t>
            </a:r>
            <a:endParaRPr lang="en-GB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2691130" y="20135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>
                <a:sym typeface="+mn-ea"/>
              </a:rPr>
              <a:t>Spam</a:t>
            </a:r>
            <a:endParaRPr lang="en-GB" altLang="en-US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</a:t>
            </a:r>
            <a:r>
              <a:rPr lang="en-GB" altLang="en-US" dirty="0"/>
              <a:t>used </a:t>
            </a:r>
            <a:r>
              <a:rPr lang="en-US" dirty="0"/>
              <a:t>for prediction?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the main input feture will be only the received text message</a:t>
            </a:r>
            <a:endParaRPr lang="en-GB" altLang="en-US"/>
          </a:p>
          <a:p>
            <a:r>
              <a:rPr lang="en-GB" altLang="en-US"/>
              <a:t>and other features are constructed from this single text message itself which are:</a:t>
            </a:r>
            <a:endParaRPr lang="en-GB" altLang="en-US"/>
          </a:p>
          <a:p>
            <a:pPr lvl="1"/>
            <a:r>
              <a:rPr lang="en-GB" altLang="en-US"/>
              <a:t>no of characters in the message.</a:t>
            </a:r>
            <a:endParaRPr lang="en-GB" altLang="en-US"/>
          </a:p>
          <a:p>
            <a:pPr lvl="1"/>
            <a:r>
              <a:rPr lang="en-GB" altLang="en-US">
                <a:sym typeface="+mn-ea"/>
              </a:rPr>
              <a:t>no of words in the message.</a:t>
            </a:r>
            <a:endParaRPr lang="en-GB" altLang="en-US">
              <a:sym typeface="+mn-ea"/>
            </a:endParaRPr>
          </a:p>
          <a:p>
            <a:pPr lvl="1"/>
            <a:r>
              <a:rPr lang="en-GB" altLang="en-US">
                <a:sym typeface="+mn-ea"/>
              </a:rPr>
              <a:t>no of sentences in the message.</a:t>
            </a:r>
            <a:endParaRPr lang="en-GB" altLang="en-US">
              <a:sym typeface="+mn-ea"/>
            </a:endParaRPr>
          </a:p>
          <a:p>
            <a:pPr lvl="1"/>
            <a:r>
              <a:rPr lang="en-GB" altLang="en-US"/>
              <a:t>presence of </a:t>
            </a:r>
            <a:r>
              <a:rPr lang="en-GB" altLang="en-US">
                <a:sym typeface="+mn-ea"/>
              </a:rPr>
              <a:t>25  </a:t>
            </a:r>
            <a:r>
              <a:rPr lang="en-GB" altLang="en-US"/>
              <a:t>most commonly used words.</a:t>
            </a:r>
            <a:endParaRPr lang="en-GB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accurate is the final model?</a:t>
            </a:r>
            <a:endParaRPr lang="en-US" dirty="0"/>
          </a:p>
        </p:txBody>
      </p:sp>
      <p:sp>
        <p:nvSpPr>
          <p:cNvPr id="5" name="Content Placeholder 4"/>
          <p:cNvSpPr/>
          <p:nvPr>
            <p:ph sz="half" idx="1"/>
          </p:nvPr>
        </p:nvSpPr>
        <p:spPr>
          <a:xfrm>
            <a:off x="818515" y="2222500"/>
            <a:ext cx="7150100" cy="3638550"/>
          </a:xfrm>
        </p:spPr>
        <p:txBody>
          <a:bodyPr/>
          <a:p>
            <a:r>
              <a:rPr lang="en-GB" altLang="en-US"/>
              <a:t>Multinomial  Naive Bayes</a:t>
            </a:r>
            <a:endParaRPr lang="en-GB" altLang="en-US"/>
          </a:p>
          <a:p>
            <a:r>
              <a:rPr lang="en-GB" altLang="en-US"/>
              <a:t>accuracy: 96%</a:t>
            </a:r>
            <a:endParaRPr lang="en-GB" altLang="en-US"/>
          </a:p>
          <a:p>
            <a:r>
              <a:rPr lang="en-GB" altLang="en-US"/>
              <a:t>precision: 73%</a:t>
            </a:r>
            <a:endParaRPr lang="en-GB" altLang="en-US"/>
          </a:p>
          <a:p>
            <a:r>
              <a:rPr lang="en-GB" altLang="en-US"/>
              <a:t>zero mistakes with False Positive Classification</a:t>
            </a:r>
            <a:endParaRPr lang="en-GB" altLang="en-US"/>
          </a:p>
          <a:p>
            <a:endParaRPr lang="en-GB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941705" y="4736465"/>
            <a:ext cx="2592070" cy="10045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out the code behind the scene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Now let’s checkout the </a:t>
            </a:r>
            <a:r>
              <a:rPr lang="en-US" sz="2400" u="sng" dirty="0"/>
              <a:t>process</a:t>
            </a:r>
            <a:r>
              <a:rPr lang="en-US" sz="2400" dirty="0"/>
              <a:t> followed to </a:t>
            </a:r>
            <a:r>
              <a:rPr lang="en-US" sz="2400" u="sng" dirty="0"/>
              <a:t>train</a:t>
            </a:r>
            <a:r>
              <a:rPr lang="en-US" sz="2400" dirty="0"/>
              <a:t>, </a:t>
            </a:r>
            <a:r>
              <a:rPr lang="en-US" sz="2400" u="sng" dirty="0"/>
              <a:t>test</a:t>
            </a:r>
            <a:r>
              <a:rPr lang="en-US" sz="2400" dirty="0"/>
              <a:t> and </a:t>
            </a:r>
            <a:r>
              <a:rPr lang="en-US" sz="2400" u="sng" dirty="0"/>
              <a:t>deploy</a:t>
            </a:r>
            <a:r>
              <a:rPr lang="en-US" sz="2400" dirty="0"/>
              <a:t> this model.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Technical-Steps involved in </a:t>
            </a:r>
            <a:r>
              <a:rPr lang="en-US" dirty="0" err="1"/>
              <a:t>DataAnalysis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 Gathering</a:t>
            </a:r>
            <a:endParaRPr lang="en-US" sz="2400" dirty="0"/>
          </a:p>
          <a:p>
            <a:r>
              <a:rPr lang="en-US" sz="2400" dirty="0"/>
              <a:t>Data Cleaning</a:t>
            </a:r>
            <a:endParaRPr lang="en-US" sz="2400" dirty="0"/>
          </a:p>
          <a:p>
            <a:r>
              <a:rPr lang="en-US" sz="2400" dirty="0"/>
              <a:t>Feature Engineering</a:t>
            </a:r>
            <a:endParaRPr lang="en-US" sz="2400" dirty="0"/>
          </a:p>
          <a:p>
            <a:r>
              <a:rPr lang="en-US" sz="2400" dirty="0"/>
              <a:t>Model Training, Evaluation and Selection</a:t>
            </a:r>
            <a:endParaRPr lang="en-US" sz="2400" dirty="0"/>
          </a:p>
          <a:p>
            <a:r>
              <a:rPr lang="en-US" sz="2400" dirty="0"/>
              <a:t>Hyperparameter Tunning of best model</a:t>
            </a:r>
            <a:endParaRPr lang="en-US" sz="2400" dirty="0"/>
          </a:p>
          <a:p>
            <a:r>
              <a:rPr lang="en-US" sz="2400" dirty="0" err="1"/>
              <a:t>MLops</a:t>
            </a:r>
            <a:endParaRPr 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WPS Presentation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Wingdings 2</vt:lpstr>
      <vt:lpstr>Century Gothic</vt:lpstr>
      <vt:lpstr>Microsoft YaHei</vt:lpstr>
      <vt:lpstr>Arial Unicode MS</vt:lpstr>
      <vt:lpstr>Calibri</vt:lpstr>
      <vt:lpstr>Quotable</vt:lpstr>
      <vt:lpstr>Spam Classifier</vt:lpstr>
      <vt:lpstr>What problem is this project trying to solve?</vt:lpstr>
      <vt:lpstr>Where did I get the data from?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Useful findings from data analysis</vt:lpstr>
      <vt:lpstr>PowerPoint 演示文稿</vt:lpstr>
      <vt:lpstr>Feature selected for prediction?</vt:lpstr>
      <vt:lpstr>How accurate is the final model?</vt:lpstr>
      <vt:lpstr>Checking out the code behind the scene</vt:lpstr>
      <vt:lpstr>Technical-Steps involved in DataAnalysis</vt:lpstr>
    </vt:vector>
  </TitlesOfParts>
  <Company>Infosys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Sarvesh Kesharwani</dc:creator>
  <cp:lastModifiedBy>sarve</cp:lastModifiedBy>
  <cp:revision>50</cp:revision>
  <dcterms:created xsi:type="dcterms:W3CDTF">2024-07-28T12:06:00Z</dcterms:created>
  <dcterms:modified xsi:type="dcterms:W3CDTF">2024-08-18T09:56:56Z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0819fa7-4367-4500-ba88-dd630d977609_Enabled">
    <vt:lpwstr>true</vt:lpwstr>
  </property>
  <property fmtid="{D5CDD505-2E9C-101B-9397-08002B2CF9AE}" pid="3" name="MSIP_Label_a0819fa7-4367-4500-ba88-dd630d977609_SetDate">
    <vt:lpwstr>2024-07-28T12:07:27Z</vt:lpwstr>
  </property>
  <property fmtid="{D5CDD505-2E9C-101B-9397-08002B2CF9AE}" pid="4" name="MSIP_Label_a0819fa7-4367-4500-ba88-dd630d977609_Method">
    <vt:lpwstr>Standard</vt:lpwstr>
  </property>
  <property fmtid="{D5CDD505-2E9C-101B-9397-08002B2CF9AE}" pid="5" name="MSIP_Label_a0819fa7-4367-4500-ba88-dd630d977609_Name">
    <vt:lpwstr>a0819fa7-4367-4500-ba88-dd630d977609</vt:lpwstr>
  </property>
  <property fmtid="{D5CDD505-2E9C-101B-9397-08002B2CF9AE}" pid="6" name="MSIP_Label_a0819fa7-4367-4500-ba88-dd630d977609_SiteId">
    <vt:lpwstr>63ce7d59-2f3e-42cd-a8cc-be764cff5eb6</vt:lpwstr>
  </property>
  <property fmtid="{D5CDD505-2E9C-101B-9397-08002B2CF9AE}" pid="7" name="MSIP_Label_a0819fa7-4367-4500-ba88-dd630d977609_ActionId">
    <vt:lpwstr>1140d6bf-3c1b-4610-af81-c45c271df28b</vt:lpwstr>
  </property>
  <property fmtid="{D5CDD505-2E9C-101B-9397-08002B2CF9AE}" pid="8" name="MSIP_Label_a0819fa7-4367-4500-ba88-dd630d977609_ContentBits">
    <vt:lpwstr>0</vt:lpwstr>
  </property>
  <property fmtid="{D5CDD505-2E9C-101B-9397-08002B2CF9AE}" pid="9" name="ICV">
    <vt:lpwstr>3B2C486E0C614234ADF2B84D7A8ECD51_12</vt:lpwstr>
  </property>
  <property fmtid="{D5CDD505-2E9C-101B-9397-08002B2CF9AE}" pid="10" name="KSOProductBuildVer">
    <vt:lpwstr>1033-12.2.0.17562</vt:lpwstr>
  </property>
</Properties>
</file>